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54864"/>
          </a:xfrm>
          <a:prstGeom prst="rect">
            <a:avLst/>
          </a:prstGeom>
          <a:solidFill>
            <a:srgbClr val="F5C76A"/>
          </a:solidFill>
          <a:ln w="12700">
            <a:solidFill>
              <a:srgbClr val="F5C7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C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组织与人才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坚持用户价值，用户为本，长期主义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 · Vision · Long-Termism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73152" cy="777240"/>
          </a:xfrm>
          <a:prstGeom prst="rect">
            <a:avLst/>
          </a:prstGeom>
          <a:solidFill>
            <a:srgbClr val="F5C76A"/>
          </a:solidFill>
          <a:ln w="12700">
            <a:solidFill>
              <a:srgbClr val="F5C7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我们相信怎样的组织，能跑得更远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5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DNA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" y="3520440"/>
            <a:ext cx="3611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" y="3520440"/>
            <a:ext cx="3611880" cy="73152"/>
          </a:xfrm>
          <a:prstGeom prst="rect">
            <a:avLst/>
          </a:prstGeom>
          <a:solidFill>
            <a:srgbClr val="F5C76A"/>
          </a:solidFill>
          <a:ln w="12700">
            <a:solidFill>
              <a:srgbClr val="F5C7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" y="3749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7540" y="3813048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54380" y="43891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C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敏捷 · 端到端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54380" y="4663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小团队，做大事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54380" y="5276088"/>
            <a:ext cx="4572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4380" y="53949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46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小团队作战，专注力与决策速度并存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46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端到端的生产模式，让反馈与迭代飞快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74820" y="3520440"/>
            <a:ext cx="3611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74820" y="3520440"/>
            <a:ext cx="3611880" cy="73152"/>
          </a:xfrm>
          <a:prstGeom prst="rect">
            <a:avLst/>
          </a:prstGeom>
          <a:solidFill>
            <a:srgbClr val="F5C76A"/>
          </a:solidFill>
          <a:ln w="12700">
            <a:solidFill>
              <a:srgbClr val="F5C7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94860" y="3749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020" y="3813048"/>
            <a:ext cx="548640" cy="5486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94860" y="43891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C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 · Compete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594860" y="4663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能人越强，人才密度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4594860" y="5276088"/>
            <a:ext cx="4572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94860" y="53949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46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能人越强，组织越能撬动复杂问题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46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好的infra支持并行实验，形成良性竞赛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15300" y="3520440"/>
            <a:ext cx="3611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115300" y="3520440"/>
            <a:ext cx="3611880" cy="73152"/>
          </a:xfrm>
          <a:prstGeom prst="rect">
            <a:avLst/>
          </a:prstGeom>
          <a:solidFill>
            <a:srgbClr val="F5C76A"/>
          </a:solidFill>
          <a:ln w="12700">
            <a:solidFill>
              <a:srgbClr val="F5C76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435340" y="3749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3813048"/>
            <a:ext cx="548640" cy="5486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435340" y="43891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C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Taste · Speed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8435340" y="4663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管事比管人更重要</a:t>
            </a:r>
            <a:endParaRPr lang="en-US" sz="2000" dirty="0"/>
          </a:p>
        </p:txBody>
      </p:sp>
      <p:sp>
        <p:nvSpPr>
          <p:cNvPr id="31" name="Shape 26"/>
          <p:cNvSpPr/>
          <p:nvPr/>
        </p:nvSpPr>
        <p:spPr>
          <a:xfrm>
            <a:off x="8435340" y="5276088"/>
            <a:ext cx="4572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435340" y="53949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46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深度思考、创意、taste、动手能力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46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关注事的进展与迭代速度，少做形式管理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5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01 / 03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四大变革方向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从干部、组织、人才到文化的系统重塑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9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Pillars of Transformation in the AI Era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5321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03120"/>
            <a:ext cx="1325880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5C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880360"/>
            <a:ext cx="713232" cy="7132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4884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C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RENEWAL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48840" y="2606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干部革新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148840" y="3154680"/>
            <a:ext cx="411480" cy="0"/>
          </a:xfrm>
          <a:prstGeom prst="line">
            <a:avLst/>
          </a:prstGeom>
          <a:noFill/>
          <a:ln w="25400">
            <a:solidFill>
              <a:srgbClr val="F5C7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48840" y="32918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3D46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建立AI领导力，持续 raise the bar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3D46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管理者亲自下场，先革自己的命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55080" y="2103120"/>
            <a:ext cx="55321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55080" y="2103120"/>
            <a:ext cx="1325880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5C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6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2880360"/>
            <a:ext cx="713232" cy="7132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86384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C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RESHAPE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863840" y="2606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组织重塑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7863840" y="3154680"/>
            <a:ext cx="411480" cy="0"/>
          </a:xfrm>
          <a:prstGeom prst="line">
            <a:avLst/>
          </a:prstGeom>
          <a:noFill/>
          <a:ln w="25400">
            <a:solidFill>
              <a:srgbClr val="F5C76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863840" y="32918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3D46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更扁平、压中间层，管理者转实干者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3D46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鼓励大胆尝试，编制不增、AI增效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0080" y="4434840"/>
            <a:ext cx="55321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0080" y="4434840"/>
            <a:ext cx="1325880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85800" y="4526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5C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6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5212080"/>
            <a:ext cx="713232" cy="7132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148840" y="4663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C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ACTIVATION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2148840" y="49377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人才激活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2148840" y="5486400"/>
            <a:ext cx="411480" cy="0"/>
          </a:xfrm>
          <a:prstGeom prst="line">
            <a:avLst/>
          </a:prstGeom>
          <a:noFill/>
          <a:ln w="25400">
            <a:solidFill>
              <a:srgbClr val="F5C76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148840" y="56235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3D46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吸引AI原生人才，提升人才密度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3D46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状态最好的人灵活配置在关键战场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6355080" y="4434840"/>
            <a:ext cx="55321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355080" y="4434840"/>
            <a:ext cx="1325880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400800" y="4526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5C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6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404" y="5212080"/>
            <a:ext cx="713232" cy="71323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863840" y="4663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C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UPGRADE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7863840" y="49377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文化升级</a:t>
            </a:r>
            <a:endParaRPr lang="en-US" sz="2200" dirty="0"/>
          </a:p>
        </p:txBody>
      </p:sp>
      <p:sp>
        <p:nvSpPr>
          <p:cNvPr id="36" name="Shape 30"/>
          <p:cNvSpPr/>
          <p:nvPr/>
        </p:nvSpPr>
        <p:spPr>
          <a:xfrm>
            <a:off x="7863840" y="5486400"/>
            <a:ext cx="411480" cy="0"/>
          </a:xfrm>
          <a:prstGeom prst="line">
            <a:avLst/>
          </a:prstGeom>
          <a:noFill/>
          <a:ln w="25400">
            <a:solidFill>
              <a:srgbClr val="F5C76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863840" y="56235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3D46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坦诚透明、low-ego、团队 co-design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3D46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战时状态：直面问题、不粉饰、做扎实</a:t>
            </a:r>
            <a:endParaRPr lang="en-US" sz="1250" dirty="0"/>
          </a:p>
        </p:txBody>
      </p:sp>
      <p:sp>
        <p:nvSpPr>
          <p:cNvPr id="38" name="Shape 32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6080760"/>
            <a:ext cx="292608" cy="29260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280160" y="601675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战时状态，凝聚胜利信心 — 直面问题、正视差距、不回避、不粉饰、在实践中进步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640080" y="6583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5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02 / 03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F1747"/>
          </a:solidFill>
          <a:ln w="12700">
            <a:solidFill>
              <a:srgbClr val="0F1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02920"/>
            <a:ext cx="457200" cy="54864"/>
          </a:xfrm>
          <a:prstGeom prst="rect">
            <a:avLst/>
          </a:prstGeom>
          <a:solidFill>
            <a:srgbClr val="F5C76A"/>
          </a:solidFill>
          <a:ln w="12700">
            <a:solidFill>
              <a:srgbClr val="F5C7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C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AI 领导力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领导力三力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200" kern="0" dirty="0">
                <a:solidFill>
                  <a:srgbClr val="F5C7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 in the Age of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640080" cy="64008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5C76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88950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761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17320" y="31272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C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17320" y="33558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在不确定中识别真问题，做出正确取舍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3977640"/>
            <a:ext cx="640080" cy="64008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5C76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412394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39959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感召力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417320" y="43616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C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417320" y="45902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让最想做事的人聚拢，激发团队的状态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5212080"/>
            <a:ext cx="640080" cy="64008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5C76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535838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5230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担责力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1417320" y="55961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C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417320" y="58247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面对不确定与风险，敢于承担并交付结果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486400" y="6400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管理者的四条行动准则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5486400" y="11155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ACTION PRINCIPLES FOR LEADERS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486400" y="1417320"/>
            <a:ext cx="548640" cy="0"/>
          </a:xfrm>
          <a:prstGeom prst="line">
            <a:avLst/>
          </a:prstGeom>
          <a:noFill/>
          <a:ln w="31750">
            <a:solidFill>
              <a:srgbClr val="F5C76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86400" y="1691640"/>
            <a:ext cx="6126480" cy="1143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486400" y="1691640"/>
            <a:ext cx="73152" cy="1143000"/>
          </a:xfrm>
          <a:prstGeom prst="rect">
            <a:avLst/>
          </a:prstGeom>
          <a:solidFill>
            <a:srgbClr val="F5C76A"/>
          </a:solidFill>
          <a:ln w="12700">
            <a:solidFill>
              <a:srgbClr val="F5C76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715000" y="18562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984248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446520" y="1856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亲手干，深度使用 AI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6446520" y="22585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6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不只听汇报，自己上手用、迭代、感受 AI 的能力边界与机会点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486400" y="2926080"/>
            <a:ext cx="6126480" cy="1143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486400" y="2926080"/>
            <a:ext cx="73152" cy="1143000"/>
          </a:xfrm>
          <a:prstGeom prst="rect">
            <a:avLst/>
          </a:prstGeom>
          <a:solidFill>
            <a:srgbClr val="F5C76A"/>
          </a:solidFill>
          <a:ln w="12700">
            <a:solidFill>
              <a:srgbClr val="F5C76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715000" y="30906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3218688"/>
            <a:ext cx="502920" cy="5029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446520" y="30906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重构组织与流程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6446520" y="34930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6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零基思维设计层级、审批、会议、流程，让组织更轻、更快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5486400" y="4160520"/>
            <a:ext cx="6126480" cy="1143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5486400" y="4160520"/>
            <a:ext cx="73152" cy="1143000"/>
          </a:xfrm>
          <a:prstGeom prst="rect">
            <a:avLst/>
          </a:prstGeom>
          <a:solidFill>
            <a:srgbClr val="F5C76A"/>
          </a:solidFill>
          <a:ln w="12700">
            <a:solidFill>
              <a:srgbClr val="F5C76A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5715000" y="43251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4453128"/>
            <a:ext cx="502920" cy="50292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446520" y="43251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做好 人 + Agent 的配置</a:t>
            </a:r>
            <a:endParaRPr lang="en-US" sz="1600" dirty="0"/>
          </a:p>
        </p:txBody>
      </p:sp>
      <p:sp>
        <p:nvSpPr>
          <p:cNvPr id="43" name="Text 35"/>
          <p:cNvSpPr/>
          <p:nvPr/>
        </p:nvSpPr>
        <p:spPr>
          <a:xfrm>
            <a:off x="6446520" y="47274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6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能做的交给 AI，把人放到判断、创造、协同的高价值环节</a:t>
            </a:r>
            <a:endParaRPr lang="en-US" sz="1150" dirty="0"/>
          </a:p>
        </p:txBody>
      </p:sp>
      <p:sp>
        <p:nvSpPr>
          <p:cNvPr id="44" name="Shape 36"/>
          <p:cNvSpPr/>
          <p:nvPr/>
        </p:nvSpPr>
        <p:spPr>
          <a:xfrm>
            <a:off x="5486400" y="5394960"/>
            <a:ext cx="6126480" cy="1143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5486400" y="5394960"/>
            <a:ext cx="73152" cy="1143000"/>
          </a:xfrm>
          <a:prstGeom prst="rect">
            <a:avLst/>
          </a:prstGeom>
          <a:solidFill>
            <a:srgbClr val="F5C76A"/>
          </a:solidFill>
          <a:ln w="12700">
            <a:solidFill>
              <a:srgbClr val="F5C76A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5715000" y="55595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7080" y="5687568"/>
            <a:ext cx="502920" cy="50292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6446520" y="55595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让状态最好的人上场</a:t>
            </a:r>
            <a:endParaRPr lang="en-US" sz="1600" dirty="0"/>
          </a:p>
        </p:txBody>
      </p:sp>
      <p:sp>
        <p:nvSpPr>
          <p:cNvPr id="49" name="Text 40"/>
          <p:cNvSpPr/>
          <p:nvPr/>
        </p:nvSpPr>
        <p:spPr>
          <a:xfrm>
            <a:off x="6446520" y="59618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6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营造坦诚共创的环境，感召优秀团队，驱动现有人才转型</a:t>
            </a:r>
            <a:endParaRPr lang="en-US" sz="1150" dirty="0"/>
          </a:p>
        </p:txBody>
      </p:sp>
      <p:sp>
        <p:nvSpPr>
          <p:cNvPr id="50" name="Text 41"/>
          <p:cNvSpPr/>
          <p:nvPr/>
        </p:nvSpPr>
        <p:spPr>
          <a:xfrm>
            <a:off x="54864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5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03 / 03</a:t>
            </a:r>
            <a:endParaRPr lang="en-US" sz="1000" dirty="0"/>
          </a:p>
        </p:txBody>
      </p:sp>
      <p:sp>
        <p:nvSpPr>
          <p:cNvPr id="51" name="Text 42"/>
          <p:cNvSpPr/>
          <p:nvPr/>
        </p:nvSpPr>
        <p:spPr>
          <a:xfrm>
            <a:off x="78638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5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Sharing · 组织与人才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组织与人才：AI时代的领导力变革</dc:title>
  <dc:subject>PptxGenJS Presentation</dc:subject>
  <dc:creator>Team Sharing</dc:creator>
  <cp:lastModifiedBy>Team Sharing</cp:lastModifiedBy>
  <cp:revision>1</cp:revision>
  <dcterms:created xsi:type="dcterms:W3CDTF">2026-05-12T05:20:24Z</dcterms:created>
  <dcterms:modified xsi:type="dcterms:W3CDTF">2026-05-12T05:20:24Z</dcterms:modified>
</cp:coreProperties>
</file>